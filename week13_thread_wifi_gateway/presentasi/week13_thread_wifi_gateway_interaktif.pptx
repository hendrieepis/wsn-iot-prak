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7" Type="http://schemas.openxmlformats.org/officeDocument/2006/relationships/slide" Target="slide7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8" Type="http://schemas.openxmlformats.org/officeDocument/2006/relationships/slide" Target="slide8.xml"/><Relationship Id="rId109" Type="http://schemas.openxmlformats.org/officeDocument/2006/relationships/slide" Target="slide9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9" Type="http://schemas.openxmlformats.org/officeDocument/2006/relationships/slide" Target="slide9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slide" Target="slide1.xml"/><Relationship Id="rId102" Type="http://schemas.openxmlformats.org/officeDocument/2006/relationships/slide" Target="slide2.xml"/><Relationship Id="rId103" Type="http://schemas.openxmlformats.org/officeDocument/2006/relationships/slide" Target="slide3.xml"/><Relationship Id="rId104" Type="http://schemas.openxmlformats.org/officeDocument/2006/relationships/slide" Target="slide4.xml"/><Relationship Id="rId105" Type="http://schemas.openxmlformats.org/officeDocument/2006/relationships/slide" Target="slide5.xml"/><Relationship Id="rId106" Type="http://schemas.openxmlformats.org/officeDocument/2006/relationships/slide" Target="slide6.xml"/><Relationship Id="rId107" Type="http://schemas.openxmlformats.org/officeDocument/2006/relationships/slide" Target="slide7.xml"/><Relationship Id="rId108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Shape 19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1943" name="Shape 194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1944" name="Shape 1944"/>
          <p:cNvSpPr/>
          <p:nvPr/>
        </p:nvSpPr>
        <p:spPr>
          <a:xfrm>
            <a:off x="685800" y="647700"/>
            <a:ext cx="8096250" cy="4286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000" b="1">
                <a:solidFill>
                  <a:srgbClr val="54D3DE"/>
                </a:solidFill>
                <a:latin typeface="Aptos"/>
              </a:rPr>
              <a:t>IOT COMMUNICATION LAB</a:t>
            </a:r>
            <a:endParaRPr lang="id-ID"/>
          </a:p>
        </p:txBody>
      </p:sp>
      <p:sp>
        <p:nvSpPr>
          <p:cNvPr id="1945" name="Shape 1945"/>
          <p:cNvSpPr/>
          <p:nvPr/>
        </p:nvSpPr>
        <p:spPr>
          <a:xfrm>
            <a:off x="666750" y="1847850"/>
            <a:ext cx="10382250" cy="11906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5400" b="1">
                <a:solidFill>
                  <a:srgbClr val="FFFFFF"/>
                </a:solidFill>
                <a:latin typeface="Aptos"/>
              </a:rPr>
              <a:t>Gateway Thread ke Wi-Fi</a:t>
            </a:r>
            <a:endParaRPr lang="id-ID"/>
          </a:p>
        </p:txBody>
      </p:sp>
      <p:sp>
        <p:nvSpPr>
          <p:cNvPr id="1946" name="Shape 1946"/>
          <p:cNvSpPr/>
          <p:nvPr/>
        </p:nvSpPr>
        <p:spPr>
          <a:xfrm>
            <a:off x="704850" y="3371850"/>
            <a:ext cx="9429750" cy="7429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500" b="0">
                <a:solidFill>
                  <a:srgbClr val="D6E5EF"/>
                </a:solidFill>
                <a:latin typeface="Aptos"/>
              </a:rPr>
              <a:t>Meneruskan UDP Thread menjadi HTTP POST</a:t>
            </a:r>
            <a:endParaRPr lang="id-ID"/>
          </a:p>
        </p:txBody>
      </p:sp>
      <p:sp>
        <p:nvSpPr>
          <p:cNvPr id="1947" name="Shape 1947"/>
          <p:cNvSpPr/>
          <p:nvPr/>
        </p:nvSpPr>
        <p:spPr>
          <a:xfrm>
            <a:off x="704850" y="4905375"/>
            <a:ext cx="304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000" b="1">
                <a:solidFill>
                  <a:srgbClr val="FFFFFF"/>
                </a:solidFill>
                <a:latin typeface="Aptos"/>
              </a:rPr>
              <a:t>Modul 13</a:t>
            </a:r>
            <a:endParaRPr lang="id-ID"/>
          </a:p>
        </p:txBody>
      </p:sp>
      <p:sp>
        <p:nvSpPr>
          <p:cNvPr id="1948" name="Shape 1948">
            <a:hlinkClick r:id="rId102" action="ppaction://hlinksldjump"/>
          </p:cNvPr>
          <p:cNvSpPr/>
          <p:nvPr/>
        </p:nvSpPr>
        <p:spPr>
          <a:xfrm>
            <a:off x="8905875" y="5562600"/>
            <a:ext cx="2438400" cy="561975"/>
          </a:xfrm>
          <a:prstGeom prst="rect">
            <a:avLst/>
          </a:prstGeom>
          <a:solidFill>
            <a:srgbClr val="54D3DE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200" b="1">
                <a:solidFill>
                  <a:srgbClr val="102238"/>
                </a:solidFill>
                <a:latin typeface="Aptos"/>
              </a:rPr>
              <a:t>Mulai materi ›</a:t>
            </a:r>
            <a:endParaRPr lang="id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Shape 19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1950" name="Shape 1950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1951" name="Shape 1951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Capaian pembelajaran</a:t>
            </a:r>
            <a:endParaRPr lang="id-ID"/>
          </a:p>
        </p:txBody>
      </p:sp>
      <p:sp>
        <p:nvSpPr>
          <p:cNvPr id="1952" name="Line 1952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1953" name="Shape 1953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1954" name="Shape 1954">
            <a:hlinkClick r:id="rId101" action="ppaction://hlinksldjump"/>
          </p:cNvPr>
          <p:cNvSpPr/>
          <p:nvPr/>
        </p:nvSpPr>
        <p:spPr>
          <a:xfrm>
            <a:off x="6286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600" b="1">
                <a:solidFill>
                  <a:srgbClr val="176B99"/>
                </a:solidFill>
                <a:latin typeface="Aptos"/>
              </a:rPr>
              <a:t>‹ Kembali</a:t>
            </a:r>
            <a:endParaRPr lang="id-ID"/>
          </a:p>
        </p:txBody>
      </p:sp>
      <p:sp>
        <p:nvSpPr>
          <p:cNvPr id="1955" name="Shape 1955"/>
          <p:cNvSpPr/>
          <p:nvPr/>
        </p:nvSpPr>
        <p:spPr>
          <a:xfrm>
            <a:off x="5448300" y="6257925"/>
            <a:ext cx="1295400" cy="333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500" b="0">
                <a:solidFill>
                  <a:srgbClr val="50657A"/>
                </a:solidFill>
                <a:latin typeface="Aptos"/>
              </a:rPr>
              <a:t>2 / 9</a:t>
            </a:r>
            <a:endParaRPr lang="id-ID"/>
          </a:p>
        </p:txBody>
      </p:sp>
      <p:sp>
        <p:nvSpPr>
          <p:cNvPr id="1956" name="Shape 1956">
            <a:hlinkClick r:id="rId103" action="ppaction://hlinksldjump"/>
          </p:cNvPr>
          <p:cNvSpPr/>
          <p:nvPr/>
        </p:nvSpPr>
        <p:spPr>
          <a:xfrm>
            <a:off x="104965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r"/>
            <a:r>
              <a:rPr lang="id-ID" sz="1600" b="1">
                <a:solidFill>
                  <a:srgbClr val="176B99"/>
                </a:solidFill>
                <a:latin typeface="Aptos"/>
              </a:rPr>
              <a:t>Lanjut ›</a:t>
            </a:r>
            <a:endParaRPr lang="id-ID"/>
          </a:p>
        </p:txBody>
      </p:sp>
      <p:sp>
        <p:nvSpPr>
          <p:cNvPr id="1957" name="Shape 1957"/>
          <p:cNvSpPr/>
          <p:nvPr/>
        </p:nvSpPr>
        <p:spPr>
          <a:xfrm>
            <a:off x="666750" y="1819275"/>
            <a:ext cx="1028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400" b="1">
                <a:solidFill>
                  <a:srgbClr val="172D40"/>
                </a:solidFill>
                <a:latin typeface="Aptos"/>
              </a:rPr>
              <a:t>Setelah praktikum, mahasiswa mampu:</a:t>
            </a:r>
            <a:endParaRPr lang="id-ID"/>
          </a:p>
        </p:txBody>
      </p:sp>
      <p:sp>
        <p:nvSpPr>
          <p:cNvPr id="1958" name="Shape 1958"/>
          <p:cNvSpPr/>
          <p:nvPr/>
        </p:nvSpPr>
        <p:spPr>
          <a:xfrm>
            <a:off x="704850" y="2524125"/>
            <a:ext cx="619125" cy="5238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000" b="1">
                <a:solidFill>
                  <a:srgbClr val="176B99"/>
                </a:solidFill>
                <a:latin typeface="Aptos"/>
              </a:rPr>
              <a:t>01</a:t>
            </a:r>
            <a:endParaRPr lang="id-ID"/>
          </a:p>
        </p:txBody>
      </p:sp>
      <p:sp>
        <p:nvSpPr>
          <p:cNvPr id="1959" name="Shape 1959"/>
          <p:cNvSpPr/>
          <p:nvPr/>
        </p:nvSpPr>
        <p:spPr>
          <a:xfrm>
            <a:off x="1381125" y="2486025"/>
            <a:ext cx="9982200" cy="714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100" b="0">
                <a:solidFill>
                  <a:srgbClr val="172D40"/>
                </a:solidFill>
                <a:latin typeface="Aptos"/>
              </a:rPr>
              <a:t>Mengonfigurasi satu ESP32-C6 sebagai Thread Leader dan Wi-Fi STA secara bersamaan, serta menunjukkan urutan…</a:t>
            </a:r>
            <a:endParaRPr lang="id-ID"/>
          </a:p>
        </p:txBody>
      </p:sp>
      <p:sp>
        <p:nvSpPr>
          <p:cNvPr id="1960" name="Shape 1960"/>
          <p:cNvSpPr/>
          <p:nvPr/>
        </p:nvSpPr>
        <p:spPr>
          <a:xfrm>
            <a:off x="704850" y="3486150"/>
            <a:ext cx="619125" cy="5238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000" b="1">
                <a:solidFill>
                  <a:srgbClr val="176B99"/>
                </a:solidFill>
                <a:latin typeface="Aptos"/>
              </a:rPr>
              <a:t>02</a:t>
            </a:r>
            <a:endParaRPr lang="id-ID"/>
          </a:p>
        </p:txBody>
      </p:sp>
      <p:sp>
        <p:nvSpPr>
          <p:cNvPr id="1961" name="Shape 1961"/>
          <p:cNvSpPr/>
          <p:nvPr/>
        </p:nvSpPr>
        <p:spPr>
          <a:xfrm>
            <a:off x="1381125" y="3448050"/>
            <a:ext cx="9982200" cy="714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100" b="0">
                <a:solidFill>
                  <a:srgbClr val="172D40"/>
                </a:solidFill>
                <a:latin typeface="Aptos"/>
              </a:rPr>
              <a:t>Menerima datagram UDP multicast Thread dari node ESP32-H2 di sisi gateway dan menampilkan alamat sumbernya.</a:t>
            </a:r>
            <a:endParaRPr lang="id-ID"/>
          </a:p>
        </p:txBody>
      </p:sp>
      <p:sp>
        <p:nvSpPr>
          <p:cNvPr id="1962" name="Shape 1962"/>
          <p:cNvSpPr/>
          <p:nvPr/>
        </p:nvSpPr>
        <p:spPr>
          <a:xfrm>
            <a:off x="704850" y="4448175"/>
            <a:ext cx="619125" cy="5238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000" b="1">
                <a:solidFill>
                  <a:srgbClr val="176B99"/>
                </a:solidFill>
                <a:latin typeface="Aptos"/>
              </a:rPr>
              <a:t>03</a:t>
            </a:r>
            <a:endParaRPr lang="id-ID"/>
          </a:p>
        </p:txBody>
      </p:sp>
      <p:sp>
        <p:nvSpPr>
          <p:cNvPr id="1963" name="Shape 1963"/>
          <p:cNvSpPr/>
          <p:nvPr/>
        </p:nvSpPr>
        <p:spPr>
          <a:xfrm>
            <a:off x="1381125" y="4410075"/>
            <a:ext cx="9982200" cy="714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100" b="0">
                <a:solidFill>
                  <a:srgbClr val="172D40"/>
                </a:solidFill>
                <a:latin typeface="Aptos"/>
              </a:rPr>
              <a:t>Meneruskan payload ke server HTTP dan memverifikasi keberhasilannya dari kode respons (HTTP 200).</a:t>
            </a:r>
            <a:endParaRPr lang="id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Shape 19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1965" name="Shape 1965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1966" name="Shape 1966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Topologi dan peran</a:t>
            </a:r>
            <a:endParaRPr lang="id-ID"/>
          </a:p>
        </p:txBody>
      </p:sp>
      <p:sp>
        <p:nvSpPr>
          <p:cNvPr id="1967" name="Line 1967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1968" name="Shape 1968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1969" name="Shape 1969">
            <a:hlinkClick r:id="rId102" action="ppaction://hlinksldjump"/>
          </p:cNvPr>
          <p:cNvSpPr/>
          <p:nvPr/>
        </p:nvSpPr>
        <p:spPr>
          <a:xfrm>
            <a:off x="6286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600" b="1">
                <a:solidFill>
                  <a:srgbClr val="176B99"/>
                </a:solidFill>
                <a:latin typeface="Aptos"/>
              </a:rPr>
              <a:t>‹ Kembali</a:t>
            </a:r>
            <a:endParaRPr lang="id-ID"/>
          </a:p>
        </p:txBody>
      </p:sp>
      <p:sp>
        <p:nvSpPr>
          <p:cNvPr id="1970" name="Shape 1970"/>
          <p:cNvSpPr/>
          <p:nvPr/>
        </p:nvSpPr>
        <p:spPr>
          <a:xfrm>
            <a:off x="5448300" y="6257925"/>
            <a:ext cx="1295400" cy="333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500" b="0">
                <a:solidFill>
                  <a:srgbClr val="50657A"/>
                </a:solidFill>
                <a:latin typeface="Aptos"/>
              </a:rPr>
              <a:t>3 / 9</a:t>
            </a:r>
            <a:endParaRPr lang="id-ID"/>
          </a:p>
        </p:txBody>
      </p:sp>
      <p:sp>
        <p:nvSpPr>
          <p:cNvPr id="1971" name="Shape 1971">
            <a:hlinkClick r:id="rId104" action="ppaction://hlinksldjump"/>
          </p:cNvPr>
          <p:cNvSpPr/>
          <p:nvPr/>
        </p:nvSpPr>
        <p:spPr>
          <a:xfrm>
            <a:off x="104965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r"/>
            <a:r>
              <a:rPr lang="id-ID" sz="1600" b="1">
                <a:solidFill>
                  <a:srgbClr val="176B99"/>
                </a:solidFill>
                <a:latin typeface="Aptos"/>
              </a:rPr>
              <a:t>Lanjut ›</a:t>
            </a:r>
            <a:endParaRPr lang="id-ID"/>
          </a:p>
        </p:txBody>
      </p:sp>
      <p:sp>
        <p:nvSpPr>
          <p:cNvPr id="1972" name="Shape 1972"/>
          <p:cNvSpPr/>
          <p:nvPr/>
        </p:nvSpPr>
        <p:spPr>
          <a:xfrm>
            <a:off x="666750" y="1790700"/>
            <a:ext cx="1057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500" b="0">
                <a:solidFill>
                  <a:srgbClr val="172D40"/>
                </a:solidFill>
                <a:latin typeface="Aptos"/>
              </a:rPr>
              <a:t>Meneruskan UDP Thread menjadi HTTP POST</a:t>
            </a:r>
            <a:endParaRPr lang="id-ID"/>
          </a:p>
        </p:txBody>
      </p:sp>
      <p:sp>
        <p:nvSpPr>
          <p:cNvPr id="1973" name="Shape 1973"/>
          <p:cNvSpPr/>
          <p:nvPr/>
        </p:nvSpPr>
        <p:spPr>
          <a:xfrm>
            <a:off x="285750" y="3019425"/>
            <a:ext cx="1619250" cy="6191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200" b="1">
                <a:solidFill>
                  <a:srgbClr val="102238"/>
                </a:solidFill>
                <a:latin typeface="Aptos"/>
              </a:rPr>
              <a:t>H2 sensor</a:t>
            </a:r>
            <a:endParaRPr lang="id-ID"/>
          </a:p>
        </p:txBody>
      </p:sp>
      <p:sp>
        <p:nvSpPr>
          <p:cNvPr id="1974" name="Line 1974"/>
          <p:cNvSpPr/>
          <p:nvPr/>
        </p:nvSpPr>
        <p:spPr>
          <a:xfrm>
            <a:off x="381000" y="3714750"/>
            <a:ext cx="1428750" cy="9525"/>
          </a:xfrm>
          <a:prstGeom prst="line">
            <a:avLst/>
          </a:prstGeom>
          <a:ln w="38100">
            <a:solidFill>
              <a:srgbClr val="54D3DE"/>
            </a:solidFill>
          </a:ln>
        </p:spPr>
      </p:sp>
      <p:sp>
        <p:nvSpPr>
          <p:cNvPr id="1975" name="Shape 1975"/>
          <p:cNvSpPr/>
          <p:nvPr/>
        </p:nvSpPr>
        <p:spPr>
          <a:xfrm>
            <a:off x="5286375" y="3019425"/>
            <a:ext cx="1619250" cy="6191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200" b="1">
                <a:solidFill>
                  <a:srgbClr val="102238"/>
                </a:solidFill>
                <a:latin typeface="Aptos"/>
              </a:rPr>
              <a:t>C6 gateway</a:t>
            </a:r>
            <a:endParaRPr lang="id-ID"/>
          </a:p>
        </p:txBody>
      </p:sp>
      <p:sp>
        <p:nvSpPr>
          <p:cNvPr id="1976" name="Line 1976"/>
          <p:cNvSpPr/>
          <p:nvPr/>
        </p:nvSpPr>
        <p:spPr>
          <a:xfrm>
            <a:off x="5381625" y="3714750"/>
            <a:ext cx="1428750" cy="9525"/>
          </a:xfrm>
          <a:prstGeom prst="line">
            <a:avLst/>
          </a:prstGeom>
          <a:ln w="38100">
            <a:solidFill>
              <a:srgbClr val="54D3DE"/>
            </a:solidFill>
          </a:ln>
        </p:spPr>
      </p:sp>
      <p:sp>
        <p:nvSpPr>
          <p:cNvPr id="1977" name="Shape 1977"/>
          <p:cNvSpPr/>
          <p:nvPr/>
        </p:nvSpPr>
        <p:spPr>
          <a:xfrm>
            <a:off x="10287000" y="3019425"/>
            <a:ext cx="1619250" cy="6191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200" b="1">
                <a:solidFill>
                  <a:srgbClr val="102238"/>
                </a:solidFill>
                <a:latin typeface="Aptos"/>
              </a:rPr>
              <a:t>Server HTTP</a:t>
            </a:r>
            <a:endParaRPr lang="id-ID"/>
          </a:p>
        </p:txBody>
      </p:sp>
      <p:sp>
        <p:nvSpPr>
          <p:cNvPr id="1978" name="Line 1978"/>
          <p:cNvSpPr/>
          <p:nvPr/>
        </p:nvSpPr>
        <p:spPr>
          <a:xfrm>
            <a:off x="10382250" y="3714750"/>
            <a:ext cx="1428750" cy="9525"/>
          </a:xfrm>
          <a:prstGeom prst="line">
            <a:avLst/>
          </a:prstGeom>
          <a:ln w="38100">
            <a:solidFill>
              <a:srgbClr val="54D3DE"/>
            </a:solidFill>
          </a:ln>
        </p:spPr>
      </p:sp>
      <p:sp>
        <p:nvSpPr>
          <p:cNvPr id="1979" name="Line 1979"/>
          <p:cNvSpPr/>
          <p:nvPr/>
        </p:nvSpPr>
        <p:spPr>
          <a:xfrm>
            <a:off x="1895475" y="3381375"/>
            <a:ext cx="3400425" cy="9525"/>
          </a:xfrm>
          <a:prstGeom prst="line">
            <a:avLst/>
          </a:prstGeom>
          <a:ln w="28575">
            <a:solidFill>
              <a:srgbClr val="176B99"/>
            </a:solidFill>
            <a:tailEnd type="triangle"/>
          </a:ln>
        </p:spPr>
      </p:sp>
      <p:sp>
        <p:nvSpPr>
          <p:cNvPr id="1980" name="Line 1980"/>
          <p:cNvSpPr/>
          <p:nvPr/>
        </p:nvSpPr>
        <p:spPr>
          <a:xfrm>
            <a:off x="6896100" y="3381375"/>
            <a:ext cx="3400425" cy="9525"/>
          </a:xfrm>
          <a:prstGeom prst="line">
            <a:avLst/>
          </a:prstGeom>
          <a:ln w="28575">
            <a:solidFill>
              <a:srgbClr val="176B99"/>
            </a:solidFill>
            <a:tailEnd type="triangle"/>
          </a:ln>
        </p:spPr>
      </p:sp>
      <p:sp>
        <p:nvSpPr>
          <p:cNvPr id="1981" name="Shape 1981"/>
          <p:cNvSpPr/>
          <p:nvPr/>
        </p:nvSpPr>
        <p:spPr>
          <a:xfrm>
            <a:off x="685800" y="4762500"/>
            <a:ext cx="10382250" cy="6858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50657A"/>
                </a:solidFill>
                <a:latin typeface="Aptos"/>
              </a:rPr>
              <a:t>Amati serial log dan catat nomor urut pesan pada setiap perangkat.</a:t>
            </a:r>
            <a:endParaRPr 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Shape 19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1983" name="Shape 198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1984" name="Shape 1984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Urutan komunikasi</a:t>
            </a:r>
            <a:endParaRPr lang="id-ID"/>
          </a:p>
        </p:txBody>
      </p:sp>
      <p:sp>
        <p:nvSpPr>
          <p:cNvPr id="1985" name="Line 1985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1986" name="Shape 1986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1987" name="Shape 1987">
            <a:hlinkClick r:id="rId103" action="ppaction://hlinksldjump"/>
          </p:cNvPr>
          <p:cNvSpPr/>
          <p:nvPr/>
        </p:nvSpPr>
        <p:spPr>
          <a:xfrm>
            <a:off x="6286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600" b="1">
                <a:solidFill>
                  <a:srgbClr val="176B99"/>
                </a:solidFill>
                <a:latin typeface="Aptos"/>
              </a:rPr>
              <a:t>‹ Kembali</a:t>
            </a:r>
            <a:endParaRPr lang="id-ID"/>
          </a:p>
        </p:txBody>
      </p:sp>
      <p:sp>
        <p:nvSpPr>
          <p:cNvPr id="1988" name="Shape 1988"/>
          <p:cNvSpPr/>
          <p:nvPr/>
        </p:nvSpPr>
        <p:spPr>
          <a:xfrm>
            <a:off x="5448300" y="6257925"/>
            <a:ext cx="1295400" cy="333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500" b="0">
                <a:solidFill>
                  <a:srgbClr val="50657A"/>
                </a:solidFill>
                <a:latin typeface="Aptos"/>
              </a:rPr>
              <a:t>4 / 9</a:t>
            </a:r>
            <a:endParaRPr lang="id-ID"/>
          </a:p>
        </p:txBody>
      </p:sp>
      <p:sp>
        <p:nvSpPr>
          <p:cNvPr id="1989" name="Shape 1989">
            <a:hlinkClick r:id="rId105" action="ppaction://hlinksldjump"/>
          </p:cNvPr>
          <p:cNvSpPr/>
          <p:nvPr/>
        </p:nvSpPr>
        <p:spPr>
          <a:xfrm>
            <a:off x="104965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r"/>
            <a:r>
              <a:rPr lang="id-ID" sz="1600" b="1">
                <a:solidFill>
                  <a:srgbClr val="176B99"/>
                </a:solidFill>
                <a:latin typeface="Aptos"/>
              </a:rPr>
              <a:t>Lanjut ›</a:t>
            </a:r>
            <a:endParaRPr lang="id-ID"/>
          </a:p>
        </p:txBody>
      </p:sp>
      <p:sp>
        <p:nvSpPr>
          <p:cNvPr id="1990" name="Shape 1990"/>
          <p:cNvSpPr/>
          <p:nvPr/>
        </p:nvSpPr>
        <p:spPr>
          <a:xfrm>
            <a:off x="685800" y="1685925"/>
            <a:ext cx="9525000" cy="333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900" b="0">
                <a:solidFill>
                  <a:srgbClr val="50657A"/>
                </a:solidFill>
                <a:latin typeface="Aptos"/>
              </a:rPr>
              <a:t>Waktu mengalir dari atas ke bawah</a:t>
            </a:r>
            <a:endParaRPr lang="id-ID"/>
          </a:p>
        </p:txBody>
      </p:sp>
      <p:sp>
        <p:nvSpPr>
          <p:cNvPr id="1991" name="Shape 1991"/>
          <p:cNvSpPr/>
          <p:nvPr/>
        </p:nvSpPr>
        <p:spPr>
          <a:xfrm>
            <a:off x="95250" y="2181225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900" b="1">
                <a:solidFill>
                  <a:srgbClr val="102238"/>
                </a:solidFill>
                <a:latin typeface="Aptos"/>
              </a:rPr>
              <a:t>H2 sensor</a:t>
            </a:r>
            <a:endParaRPr lang="id-ID"/>
          </a:p>
        </p:txBody>
      </p:sp>
      <p:sp>
        <p:nvSpPr>
          <p:cNvPr id="1992" name="Line 1992"/>
          <p:cNvSpPr/>
          <p:nvPr/>
        </p:nvSpPr>
        <p:spPr>
          <a:xfrm>
            <a:off x="1095375" y="2762250"/>
            <a:ext cx="9525" cy="3038475"/>
          </a:xfrm>
          <a:prstGeom prst="line">
            <a:avLst/>
          </a:prstGeom>
          <a:ln w="14288">
            <a:solidFill>
              <a:srgbClr val="C8D7E2"/>
            </a:solidFill>
            <a:prstDash val="dash"/>
          </a:ln>
        </p:spPr>
      </p:sp>
      <p:sp>
        <p:nvSpPr>
          <p:cNvPr id="1993" name="Shape 1993"/>
          <p:cNvSpPr/>
          <p:nvPr/>
        </p:nvSpPr>
        <p:spPr>
          <a:xfrm>
            <a:off x="5095875" y="2181225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900" b="1">
                <a:solidFill>
                  <a:srgbClr val="102238"/>
                </a:solidFill>
                <a:latin typeface="Aptos"/>
              </a:rPr>
              <a:t>C6 gateway</a:t>
            </a:r>
            <a:endParaRPr lang="id-ID"/>
          </a:p>
        </p:txBody>
      </p:sp>
      <p:sp>
        <p:nvSpPr>
          <p:cNvPr id="1994" name="Line 1994"/>
          <p:cNvSpPr/>
          <p:nvPr/>
        </p:nvSpPr>
        <p:spPr>
          <a:xfrm>
            <a:off x="6096000" y="2762250"/>
            <a:ext cx="9525" cy="3038475"/>
          </a:xfrm>
          <a:prstGeom prst="line">
            <a:avLst/>
          </a:prstGeom>
          <a:ln w="14288">
            <a:solidFill>
              <a:srgbClr val="C8D7E2"/>
            </a:solidFill>
            <a:prstDash val="dash"/>
          </a:ln>
        </p:spPr>
      </p:sp>
      <p:sp>
        <p:nvSpPr>
          <p:cNvPr id="1995" name="Shape 1995"/>
          <p:cNvSpPr/>
          <p:nvPr/>
        </p:nvSpPr>
        <p:spPr>
          <a:xfrm>
            <a:off x="10096500" y="2181225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900" b="1">
                <a:solidFill>
                  <a:srgbClr val="102238"/>
                </a:solidFill>
                <a:latin typeface="Aptos"/>
              </a:rPr>
              <a:t>Server HTTP</a:t>
            </a:r>
            <a:endParaRPr lang="id-ID"/>
          </a:p>
        </p:txBody>
      </p:sp>
      <p:sp>
        <p:nvSpPr>
          <p:cNvPr id="1996" name="Line 1996"/>
          <p:cNvSpPr/>
          <p:nvPr/>
        </p:nvSpPr>
        <p:spPr>
          <a:xfrm>
            <a:off x="11096625" y="2762250"/>
            <a:ext cx="9525" cy="3038475"/>
          </a:xfrm>
          <a:prstGeom prst="line">
            <a:avLst/>
          </a:prstGeom>
          <a:ln w="14288">
            <a:solidFill>
              <a:srgbClr val="C8D7E2"/>
            </a:solidFill>
            <a:prstDash val="dash"/>
          </a:ln>
        </p:spPr>
      </p:sp>
      <p:sp>
        <p:nvSpPr>
          <p:cNvPr id="1997" name="Line 1997"/>
          <p:cNvSpPr/>
          <p:nvPr/>
        </p:nvSpPr>
        <p:spPr>
          <a:xfrm>
            <a:off x="1095375" y="3048000"/>
            <a:ext cx="5000625" cy="9525"/>
          </a:xfrm>
          <a:prstGeom prst="line">
            <a:avLst/>
          </a:prstGeom>
          <a:ln w="22860">
            <a:solidFill>
              <a:srgbClr val="176B99"/>
            </a:solidFill>
            <a:tailEnd type="triangle"/>
          </a:ln>
        </p:spPr>
      </p:sp>
      <p:sp>
        <p:nvSpPr>
          <p:cNvPr id="1998" name="Shape 1998"/>
          <p:cNvSpPr/>
          <p:nvPr/>
        </p:nvSpPr>
        <p:spPr>
          <a:xfrm>
            <a:off x="1171575" y="2752725"/>
            <a:ext cx="4848225" cy="2571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600" b="0">
                <a:solidFill>
                  <a:srgbClr val="172D40"/>
                </a:solidFill>
                <a:latin typeface="Aptos"/>
              </a:rPr>
              <a:t>UDP telemetry + seq</a:t>
            </a:r>
            <a:endParaRPr lang="id-ID"/>
          </a:p>
        </p:txBody>
      </p:sp>
      <p:sp>
        <p:nvSpPr>
          <p:cNvPr id="1999" name="Line 1999"/>
          <p:cNvSpPr/>
          <p:nvPr/>
        </p:nvSpPr>
        <p:spPr>
          <a:xfrm>
            <a:off x="6191250" y="3590925"/>
            <a:ext cx="781050" cy="9525"/>
          </a:xfrm>
          <a:prstGeom prst="line">
            <a:avLst/>
          </a:prstGeom>
          <a:ln w="19050">
            <a:solidFill>
              <a:srgbClr val="176B99"/>
            </a:solidFill>
            <a:tailEnd type="triangle"/>
          </a:ln>
        </p:spPr>
      </p:sp>
      <p:sp>
        <p:nvSpPr>
          <p:cNvPr id="2000" name="Shape 2000"/>
          <p:cNvSpPr/>
          <p:nvPr/>
        </p:nvSpPr>
        <p:spPr>
          <a:xfrm>
            <a:off x="7019925" y="3400425"/>
            <a:ext cx="2190750" cy="3714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600" b="0">
                <a:solidFill>
                  <a:srgbClr val="172D40"/>
                </a:solidFill>
                <a:latin typeface="Aptos"/>
              </a:rPr>
              <a:t>Terima dan parse</a:t>
            </a:r>
            <a:endParaRPr lang="id-ID"/>
          </a:p>
        </p:txBody>
      </p:sp>
      <p:sp>
        <p:nvSpPr>
          <p:cNvPr id="2001" name="Line 2001"/>
          <p:cNvSpPr/>
          <p:nvPr/>
        </p:nvSpPr>
        <p:spPr>
          <a:xfrm>
            <a:off x="6096000" y="4133850"/>
            <a:ext cx="5000625" cy="9525"/>
          </a:xfrm>
          <a:prstGeom prst="line">
            <a:avLst/>
          </a:prstGeom>
          <a:ln w="22860">
            <a:solidFill>
              <a:srgbClr val="176B99"/>
            </a:solidFill>
            <a:tailEnd type="triangle"/>
          </a:ln>
        </p:spPr>
      </p:sp>
      <p:sp>
        <p:nvSpPr>
          <p:cNvPr id="2002" name="Shape 2002"/>
          <p:cNvSpPr/>
          <p:nvPr/>
        </p:nvSpPr>
        <p:spPr>
          <a:xfrm>
            <a:off x="6172200" y="3838575"/>
            <a:ext cx="4848225" cy="2571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600" b="0">
                <a:solidFill>
                  <a:srgbClr val="172D40"/>
                </a:solidFill>
                <a:latin typeface="Aptos"/>
              </a:rPr>
              <a:t>HTTP POST via Wi-Fi</a:t>
            </a:r>
            <a:endParaRPr lang="id-ID"/>
          </a:p>
        </p:txBody>
      </p:sp>
      <p:sp>
        <p:nvSpPr>
          <p:cNvPr id="2003" name="Line 2003"/>
          <p:cNvSpPr/>
          <p:nvPr/>
        </p:nvSpPr>
        <p:spPr>
          <a:xfrm flipH="1">
            <a:off x="6096000" y="4676775"/>
            <a:ext cx="5000625" cy="9525"/>
          </a:xfrm>
          <a:prstGeom prst="line">
            <a:avLst/>
          </a:prstGeom>
          <a:ln w="22860">
            <a:solidFill>
              <a:srgbClr val="176B99"/>
            </a:solidFill>
            <a:tailEnd type="triangle"/>
          </a:ln>
        </p:spPr>
      </p:sp>
      <p:sp>
        <p:nvSpPr>
          <p:cNvPr id="2004" name="Shape 2004"/>
          <p:cNvSpPr/>
          <p:nvPr/>
        </p:nvSpPr>
        <p:spPr>
          <a:xfrm>
            <a:off x="6172200" y="4381500"/>
            <a:ext cx="4848225" cy="2571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600" b="0">
                <a:solidFill>
                  <a:srgbClr val="172D40"/>
                </a:solidFill>
                <a:latin typeface="Aptos"/>
              </a:rPr>
              <a:t>Kode respons HTTP</a:t>
            </a:r>
            <a:endParaRPr lang="id-ID"/>
          </a:p>
        </p:txBody>
      </p:sp>
      <p:sp>
        <p:nvSpPr>
          <p:cNvPr id="2005" name="Line 2005"/>
          <p:cNvSpPr/>
          <p:nvPr/>
        </p:nvSpPr>
        <p:spPr>
          <a:xfrm flipH="1">
            <a:off x="1095375" y="5219700"/>
            <a:ext cx="5000625" cy="9525"/>
          </a:xfrm>
          <a:prstGeom prst="line">
            <a:avLst/>
          </a:prstGeom>
          <a:ln w="22860">
            <a:solidFill>
              <a:srgbClr val="176B99"/>
            </a:solidFill>
            <a:tailEnd type="triangle"/>
          </a:ln>
        </p:spPr>
      </p:sp>
      <p:sp>
        <p:nvSpPr>
          <p:cNvPr id="2006" name="Shape 2006"/>
          <p:cNvSpPr/>
          <p:nvPr/>
        </p:nvSpPr>
        <p:spPr>
          <a:xfrm>
            <a:off x="1171575" y="4924425"/>
            <a:ext cx="4848225" cy="2571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600" b="0">
                <a:solidFill>
                  <a:srgbClr val="172D40"/>
                </a:solidFill>
                <a:latin typeface="Aptos"/>
              </a:rPr>
              <a:t>Log status forwarding</a:t>
            </a:r>
            <a:endParaRPr lang="id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Shape 20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008" name="Shape 2008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2009" name="Shape 2009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Alur percobaan</a:t>
            </a:r>
            <a:endParaRPr lang="id-ID"/>
          </a:p>
        </p:txBody>
      </p:sp>
      <p:sp>
        <p:nvSpPr>
          <p:cNvPr id="2010" name="Line 2010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2011" name="Shape 2011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2012" name="Shape 2012">
            <a:hlinkClick r:id="rId104" action="ppaction://hlinksldjump"/>
          </p:cNvPr>
          <p:cNvSpPr/>
          <p:nvPr/>
        </p:nvSpPr>
        <p:spPr>
          <a:xfrm>
            <a:off x="6286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600" b="1">
                <a:solidFill>
                  <a:srgbClr val="176B99"/>
                </a:solidFill>
                <a:latin typeface="Aptos"/>
              </a:rPr>
              <a:t>‹ Kembali</a:t>
            </a:r>
            <a:endParaRPr lang="id-ID"/>
          </a:p>
        </p:txBody>
      </p:sp>
      <p:sp>
        <p:nvSpPr>
          <p:cNvPr id="2013" name="Shape 2013"/>
          <p:cNvSpPr/>
          <p:nvPr/>
        </p:nvSpPr>
        <p:spPr>
          <a:xfrm>
            <a:off x="5448300" y="6257925"/>
            <a:ext cx="1295400" cy="3333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1500" b="0">
                <a:solidFill>
                  <a:srgbClr val="50657A"/>
                </a:solidFill>
                <a:latin typeface="Aptos"/>
              </a:rPr>
              <a:t>5 / 9</a:t>
            </a:r>
            <a:endParaRPr lang="id-ID"/>
          </a:p>
        </p:txBody>
      </p:sp>
      <p:sp>
        <p:nvSpPr>
          <p:cNvPr id="2014" name="Shape 2014">
            <a:hlinkClick r:id="rId106" action="ppaction://hlinksldjump"/>
          </p:cNvPr>
          <p:cNvSpPr/>
          <p:nvPr/>
        </p:nvSpPr>
        <p:spPr>
          <a:xfrm>
            <a:off x="10496550" y="6248400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r"/>
            <a:r>
              <a:rPr lang="id-ID" sz="1600" b="1">
                <a:solidFill>
                  <a:srgbClr val="176B99"/>
                </a:solidFill>
                <a:latin typeface="Aptos"/>
              </a:rPr>
              <a:t>Lanjut ›</a:t>
            </a:r>
            <a:endParaRPr lang="id-ID"/>
          </a:p>
        </p:txBody>
      </p:sp>
      <p:sp>
        <p:nvSpPr>
          <p:cNvPr id="2015" name="Shape 2015"/>
          <p:cNvSpPr/>
          <p:nvPr/>
        </p:nvSpPr>
        <p:spPr>
          <a:xfrm>
            <a:off x="685800" y="1771650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400" b="0">
                <a:solidFill>
                  <a:srgbClr val="172D40"/>
                </a:solidFill>
                <a:latin typeface="Aptos"/>
              </a:rPr>
              <a:t>Jalankan percobaan sesuai urutan modul</a:t>
            </a:r>
            <a:endParaRPr lang="id-ID"/>
          </a:p>
        </p:txBody>
      </p:sp>
      <p:sp>
        <p:nvSpPr>
          <p:cNvPr id="2016" name="Shape 2016"/>
          <p:cNvSpPr/>
          <p:nvPr/>
        </p:nvSpPr>
        <p:spPr>
          <a:xfrm>
            <a:off x="704850" y="2476500"/>
            <a:ext cx="762000" cy="4667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000" b="1">
                <a:solidFill>
                  <a:srgbClr val="176B99"/>
                </a:solidFill>
                <a:latin typeface="Aptos"/>
              </a:rPr>
              <a:t>01</a:t>
            </a:r>
            <a:endParaRPr lang="id-ID"/>
          </a:p>
        </p:txBody>
      </p:sp>
      <p:sp>
        <p:nvSpPr>
          <p:cNvPr id="2017" name="Shape 2017"/>
          <p:cNvSpPr/>
          <p:nvPr/>
        </p:nvSpPr>
        <p:spPr>
          <a:xfrm>
            <a:off x="1590675" y="2428875"/>
            <a:ext cx="9620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172D40"/>
                </a:solidFill>
                <a:latin typeface="Aptos"/>
              </a:rPr>
              <a:t>Menyalakan Jaringan Thread</a:t>
            </a:r>
            <a:endParaRPr lang="id-ID"/>
          </a:p>
        </p:txBody>
      </p:sp>
      <p:sp>
        <p:nvSpPr>
          <p:cNvPr id="2018" name="Line 2018"/>
          <p:cNvSpPr/>
          <p:nvPr/>
        </p:nvSpPr>
        <p:spPr>
          <a:xfrm>
            <a:off x="1104900" y="2952750"/>
            <a:ext cx="9525" cy="219075"/>
          </a:xfrm>
          <a:prstGeom prst="line">
            <a:avLst/>
          </a:prstGeom>
          <a:ln w="19050">
            <a:solidFill>
              <a:srgbClr val="54D3DE"/>
            </a:solidFill>
            <a:tailEnd type="triangle"/>
          </a:ln>
        </p:spPr>
      </p:sp>
      <p:sp>
        <p:nvSpPr>
          <p:cNvPr id="2019" name="Shape 2019"/>
          <p:cNvSpPr/>
          <p:nvPr/>
        </p:nvSpPr>
        <p:spPr>
          <a:xfrm>
            <a:off x="704850" y="3276600"/>
            <a:ext cx="762000" cy="4667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000" b="1">
                <a:solidFill>
                  <a:srgbClr val="176B99"/>
                </a:solidFill>
                <a:latin typeface="Aptos"/>
              </a:rPr>
              <a:t>02</a:t>
            </a:r>
            <a:endParaRPr lang="id-ID"/>
          </a:p>
        </p:txBody>
      </p:sp>
      <p:sp>
        <p:nvSpPr>
          <p:cNvPr id="2020" name="Shape 2020"/>
          <p:cNvSpPr/>
          <p:nvPr/>
        </p:nvSpPr>
        <p:spPr>
          <a:xfrm>
            <a:off x="1590675" y="3228975"/>
            <a:ext cx="9620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172D40"/>
                </a:solidFill>
                <a:latin typeface="Aptos"/>
              </a:rPr>
              <a:t>Telemetri lewat Thread</a:t>
            </a:r>
            <a:endParaRPr lang="id-ID"/>
          </a:p>
        </p:txBody>
      </p:sp>
      <p:sp>
        <p:nvSpPr>
          <p:cNvPr id="2021" name="Line 2021"/>
          <p:cNvSpPr/>
          <p:nvPr/>
        </p:nvSpPr>
        <p:spPr>
          <a:xfrm>
            <a:off x="1104900" y="3752850"/>
            <a:ext cx="9525" cy="219075"/>
          </a:xfrm>
          <a:prstGeom prst="line">
            <a:avLst/>
          </a:prstGeom>
          <a:ln w="19050">
            <a:solidFill>
              <a:srgbClr val="54D3DE"/>
            </a:solidFill>
            <a:tailEnd type="triangle"/>
          </a:ln>
        </p:spPr>
      </p:sp>
      <p:sp>
        <p:nvSpPr>
          <p:cNvPr id="2022" name="Shape 2022"/>
          <p:cNvSpPr/>
          <p:nvPr/>
        </p:nvSpPr>
        <p:spPr>
          <a:xfrm>
            <a:off x="704850" y="4076700"/>
            <a:ext cx="762000" cy="4667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000" b="1">
                <a:solidFill>
                  <a:srgbClr val="176B99"/>
                </a:solidFill>
                <a:latin typeface="Aptos"/>
              </a:rPr>
              <a:t>03</a:t>
            </a:r>
            <a:endParaRPr lang="id-ID"/>
          </a:p>
        </p:txBody>
      </p:sp>
      <p:sp>
        <p:nvSpPr>
          <p:cNvPr id="2023" name="Shape 2023"/>
          <p:cNvSpPr/>
          <p:nvPr/>
        </p:nvSpPr>
        <p:spPr>
          <a:xfrm>
            <a:off x="1590675" y="4029075"/>
            <a:ext cx="9620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172D40"/>
                </a:solidFill>
                <a:latin typeface="Aptos"/>
              </a:rPr>
              <a:t>Penerusan ke Wi-Fi (HTTP POST)</a:t>
            </a:r>
            <a:endParaRPr lang="id-ID"/>
          </a:p>
        </p:txBody>
      </p:sp>
      <p:sp>
        <p:nvSpPr>
          <p:cNvPr id="2024" name="Shape 2024"/>
          <p:cNvSpPr/>
          <p:nvPr/>
        </p:nvSpPr>
        <p:spPr>
          <a:xfrm>
            <a:off x="685800" y="569595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900" b="0">
                <a:solidFill>
                  <a:srgbClr val="50657A"/>
                </a:solidFill>
                <a:latin typeface="Aptos"/>
              </a:rPr>
              <a:t>Bukti: log serial, hasil pengukuran, dan perubahan kondisi saat node terputus.</a:t>
            </a:r>
            <a:endParaRPr lang="id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Shape 20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026" name="Shape 2026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2027" name="Shape 2027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Cek pemahaman</a:t>
            </a:r>
            <a:endParaRPr lang="id-ID"/>
          </a:p>
        </p:txBody>
      </p:sp>
      <p:sp>
        <p:nvSpPr>
          <p:cNvPr id="2028" name="Line 2028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2029" name="Shape 2029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2030" name="Shape 2030"/>
          <p:cNvSpPr/>
          <p:nvPr/>
        </p:nvSpPr>
        <p:spPr>
          <a:xfrm>
            <a:off x="685800" y="1809750"/>
            <a:ext cx="10668000" cy="8096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800" b="1">
                <a:solidFill>
                  <a:srgbClr val="172D40"/>
                </a:solidFill>
                <a:latin typeface="Aptos"/>
              </a:rPr>
              <a:t>Bukti bahwa data benar-benar keluar dari gateway adalah?</a:t>
            </a:r>
            <a:endParaRPr lang="id-ID"/>
          </a:p>
        </p:txBody>
      </p:sp>
      <p:sp>
        <p:nvSpPr>
          <p:cNvPr id="2031" name="Shape 2031">
            <a:hlinkClick r:id="rId107" action="ppaction://hlinksldjump"/>
          </p:cNvPr>
          <p:cNvSpPr/>
          <p:nvPr/>
        </p:nvSpPr>
        <p:spPr>
          <a:xfrm>
            <a:off x="809625" y="2905125"/>
            <a:ext cx="10477500" cy="666750"/>
          </a:xfrm>
          <a:prstGeom prst="rect">
            <a:avLst/>
          </a:prstGeom>
          <a:solidFill>
            <a:srgbClr val="D9F2EA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102238"/>
                </a:solidFill>
                <a:latin typeface="Aptos"/>
              </a:rPr>
              <a:t>A.  Kode respons dari server HTTP</a:t>
            </a:r>
            <a:endParaRPr lang="id-ID"/>
          </a:p>
        </p:txBody>
      </p:sp>
      <p:sp>
        <p:nvSpPr>
          <p:cNvPr id="2032" name="Shape 2032">
            <a:hlinkClick r:id="rId108" action="ppaction://hlinksldjump"/>
          </p:cNvPr>
          <p:cNvSpPr/>
          <p:nvPr/>
        </p:nvSpPr>
        <p:spPr>
          <a:xfrm>
            <a:off x="809625" y="3771900"/>
            <a:ext cx="10477500" cy="666750"/>
          </a:xfrm>
          <a:prstGeom prst="rect">
            <a:avLst/>
          </a:prstGeom>
          <a:solidFill>
            <a:srgbClr val="E8F4F7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102238"/>
                </a:solidFill>
                <a:latin typeface="Aptos"/>
              </a:rPr>
              <a:t>B.  LED gateway menyala</a:t>
            </a:r>
            <a:endParaRPr lang="id-ID"/>
          </a:p>
        </p:txBody>
      </p:sp>
      <p:sp>
        <p:nvSpPr>
          <p:cNvPr id="2033" name="Shape 2033">
            <a:hlinkClick r:id="rId108" action="ppaction://hlinksldjump"/>
          </p:cNvPr>
          <p:cNvSpPr/>
          <p:nvPr/>
        </p:nvSpPr>
        <p:spPr>
          <a:xfrm>
            <a:off x="809625" y="4638675"/>
            <a:ext cx="10477500" cy="666750"/>
          </a:xfrm>
          <a:prstGeom prst="rect">
            <a:avLst/>
          </a:prstGeom>
          <a:solidFill>
            <a:srgbClr val="E8F4F7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200" b="0">
                <a:solidFill>
                  <a:srgbClr val="102238"/>
                </a:solidFill>
                <a:latin typeface="Aptos"/>
              </a:rPr>
              <a:t>C.  Thread attach saja</a:t>
            </a:r>
            <a:endParaRPr lang="id-ID"/>
          </a:p>
        </p:txBody>
      </p:sp>
      <p:sp>
        <p:nvSpPr>
          <p:cNvPr id="2034" name="Shape 2034"/>
          <p:cNvSpPr/>
          <p:nvPr/>
        </p:nvSpPr>
        <p:spPr>
          <a:xfrm>
            <a:off x="742950" y="59436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700" b="0">
                <a:solidFill>
                  <a:srgbClr val="50657A"/>
                </a:solidFill>
                <a:latin typeface="Aptos"/>
              </a:rPr>
              <a:t>Klik salah satu jawaban</a:t>
            </a:r>
            <a:endParaRPr lang="id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Shape 20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036" name="Shape 2036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2037" name="Shape 2037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Tepat</a:t>
            </a:r>
            <a:endParaRPr lang="id-ID"/>
          </a:p>
        </p:txBody>
      </p:sp>
      <p:sp>
        <p:nvSpPr>
          <p:cNvPr id="2038" name="Line 2038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2039" name="Shape 2039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2040" name="Shape 2040"/>
          <p:cNvSpPr/>
          <p:nvPr/>
        </p:nvSpPr>
        <p:spPr>
          <a:xfrm>
            <a:off x="685800" y="1771650"/>
            <a:ext cx="9810750" cy="7620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4400" b="1">
                <a:solidFill>
                  <a:srgbClr val="17875B"/>
                </a:solidFill>
                <a:latin typeface="Aptos"/>
              </a:rPr>
              <a:t>Jawaban benar</a:t>
            </a:r>
            <a:endParaRPr lang="id-ID"/>
          </a:p>
        </p:txBody>
      </p:sp>
      <p:sp>
        <p:nvSpPr>
          <p:cNvPr id="2041" name="Shape 2041"/>
          <p:cNvSpPr/>
          <p:nvPr/>
        </p:nvSpPr>
        <p:spPr>
          <a:xfrm>
            <a:off x="723900" y="2857500"/>
            <a:ext cx="10477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700" b="0">
                <a:solidFill>
                  <a:srgbClr val="172D40"/>
                </a:solidFill>
                <a:latin typeface="Aptos"/>
              </a:rPr>
              <a:t>Periksa log penerimaan UDP, HTTP POST, dan respons server untuk menelusuri tiap tahap.</a:t>
            </a:r>
            <a:endParaRPr lang="id-ID"/>
          </a:p>
        </p:txBody>
      </p:sp>
      <p:sp>
        <p:nvSpPr>
          <p:cNvPr id="2042" name="Shape 2042">
            <a:hlinkClick r:id="rId109" action="ppaction://hlinksldjump"/>
          </p:cNvPr>
          <p:cNvSpPr/>
          <p:nvPr/>
        </p:nvSpPr>
        <p:spPr>
          <a:xfrm>
            <a:off x="7905750" y="5276850"/>
            <a:ext cx="3381375" cy="628650"/>
          </a:xfrm>
          <a:prstGeom prst="rect">
            <a:avLst/>
          </a:prstGeom>
          <a:solidFill>
            <a:srgbClr val="17875B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200" b="1">
                <a:solidFill>
                  <a:srgbClr val="FFFFFF"/>
                </a:solidFill>
                <a:latin typeface="Aptos"/>
              </a:rPr>
              <a:t>Lanjut ke refleksi ›</a:t>
            </a:r>
            <a:endParaRPr lang="id-ID"/>
          </a:p>
        </p:txBody>
      </p:sp>
      <p:sp>
        <p:nvSpPr>
          <p:cNvPr id="2043" name="Shape 2043">
            <a:hlinkClick r:id="rId106" action="ppaction://hlinksldjump"/>
          </p:cNvPr>
          <p:cNvSpPr/>
          <p:nvPr/>
        </p:nvSpPr>
        <p:spPr>
          <a:xfrm>
            <a:off x="723900" y="539115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800" b="1">
                <a:solidFill>
                  <a:srgbClr val="176B99"/>
                </a:solidFill>
                <a:latin typeface="Aptos"/>
              </a:rPr>
              <a:t>‹ Ulangi soal</a:t>
            </a:r>
            <a:endParaRPr lang="id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Shape 20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045" name="Shape 2045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2046" name="Shape 2046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Coba lagi</a:t>
            </a:r>
            <a:endParaRPr lang="id-ID"/>
          </a:p>
        </p:txBody>
      </p:sp>
      <p:sp>
        <p:nvSpPr>
          <p:cNvPr id="2047" name="Line 2047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2048" name="Shape 2048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2049" name="Shape 2049"/>
          <p:cNvSpPr/>
          <p:nvPr/>
        </p:nvSpPr>
        <p:spPr>
          <a:xfrm>
            <a:off x="685800" y="1809750"/>
            <a:ext cx="10572750" cy="8572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700" b="1">
                <a:solidFill>
                  <a:srgbClr val="BB4855"/>
                </a:solidFill>
                <a:latin typeface="Aptos"/>
              </a:rPr>
              <a:t>Telusuri kembali urutan komunikasi</a:t>
            </a:r>
            <a:endParaRPr lang="id-ID"/>
          </a:p>
        </p:txBody>
      </p:sp>
      <p:sp>
        <p:nvSpPr>
          <p:cNvPr id="2050" name="Shape 2050"/>
          <p:cNvSpPr/>
          <p:nvPr/>
        </p:nvSpPr>
        <p:spPr>
          <a:xfrm>
            <a:off x="723900" y="2952750"/>
            <a:ext cx="10287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500" b="0">
                <a:solidFill>
                  <a:srgbClr val="172D40"/>
                </a:solidFill>
                <a:latin typeface="Aptos"/>
              </a:rPr>
              <a:t>Perhatikan siapa yang memulai pesan, siapa yang meneruskan, dan bukti bahwa pesan diterima.</a:t>
            </a:r>
            <a:endParaRPr lang="id-ID"/>
          </a:p>
        </p:txBody>
      </p:sp>
      <p:sp>
        <p:nvSpPr>
          <p:cNvPr id="2051" name="Shape 2051">
            <a:hlinkClick r:id="rId106" action="ppaction://hlinksldjump"/>
          </p:cNvPr>
          <p:cNvSpPr/>
          <p:nvPr/>
        </p:nvSpPr>
        <p:spPr>
          <a:xfrm>
            <a:off x="685800" y="5238750"/>
            <a:ext cx="3524250" cy="647700"/>
          </a:xfrm>
          <a:prstGeom prst="rect">
            <a:avLst/>
          </a:prstGeom>
          <a:solidFill>
            <a:srgbClr val="176B99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200" b="1">
                <a:solidFill>
                  <a:srgbClr val="FFFFFF"/>
                </a:solidFill>
                <a:latin typeface="Aptos"/>
              </a:rPr>
              <a:t>‹ Kembali ke soal</a:t>
            </a:r>
            <a:endParaRPr lang="id-ID"/>
          </a:p>
        </p:txBody>
      </p:sp>
      <p:sp>
        <p:nvSpPr>
          <p:cNvPr id="2052" name="Shape 2052">
            <a:hlinkClick r:id="rId104" action="ppaction://hlinksldjump"/>
          </p:cNvPr>
          <p:cNvSpPr/>
          <p:nvPr/>
        </p:nvSpPr>
        <p:spPr>
          <a:xfrm>
            <a:off x="7629525" y="53340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r"/>
            <a:r>
              <a:rPr lang="id-ID" sz="2000" b="1">
                <a:solidFill>
                  <a:srgbClr val="176B99"/>
                </a:solidFill>
                <a:latin typeface="Aptos"/>
              </a:rPr>
              <a:t>Lihat diagram ›</a:t>
            </a:r>
            <a:endParaRPr lang="id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hape 20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054" name="Shape 205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4D3DE"/>
          </a:solidFill>
          <a:ln>
            <a:noFill/>
          </a:ln>
        </p:spPr>
      </p:sp>
      <p:sp>
        <p:nvSpPr>
          <p:cNvPr id="2055" name="Shape 2055"/>
          <p:cNvSpPr/>
          <p:nvPr/>
        </p:nvSpPr>
        <p:spPr>
          <a:xfrm>
            <a:off x="609600" y="400050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3600" b="1">
                <a:solidFill>
                  <a:srgbClr val="102238"/>
                </a:solidFill>
                <a:latin typeface="Aptos"/>
              </a:rPr>
              <a:t>Refleksi praktikum</a:t>
            </a:r>
            <a:endParaRPr lang="id-ID"/>
          </a:p>
        </p:txBody>
      </p:sp>
      <p:sp>
        <p:nvSpPr>
          <p:cNvPr id="2056" name="Line 2056"/>
          <p:cNvSpPr/>
          <p:nvPr/>
        </p:nvSpPr>
        <p:spPr>
          <a:xfrm>
            <a:off x="609600" y="1076325"/>
            <a:ext cx="10972800" cy="9525"/>
          </a:xfrm>
          <a:prstGeom prst="line">
            <a:avLst/>
          </a:prstGeom>
          <a:ln w="9525">
            <a:solidFill>
              <a:srgbClr val="C8D7E2"/>
            </a:solidFill>
          </a:ln>
        </p:spPr>
      </p:sp>
      <p:sp>
        <p:nvSpPr>
          <p:cNvPr id="2057" name="Shape 2057"/>
          <p:cNvSpPr/>
          <p:nvPr/>
        </p:nvSpPr>
        <p:spPr>
          <a:xfrm>
            <a:off x="609600" y="1162050"/>
            <a:ext cx="6191250" cy="24765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500" b="0">
                <a:solidFill>
                  <a:srgbClr val="50657A"/>
                </a:solidFill>
                <a:latin typeface="Aptos"/>
              </a:rPr>
              <a:t>Modul 13  •  IoT Communication Lab</a:t>
            </a:r>
            <a:endParaRPr lang="id-ID"/>
          </a:p>
        </p:txBody>
      </p:sp>
      <p:sp>
        <p:nvSpPr>
          <p:cNvPr id="2058" name="Shape 2058"/>
          <p:cNvSpPr/>
          <p:nvPr/>
        </p:nvSpPr>
        <p:spPr>
          <a:xfrm>
            <a:off x="685800" y="1743075"/>
            <a:ext cx="10001250" cy="42862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400" b="1">
                <a:solidFill>
                  <a:srgbClr val="172D40"/>
                </a:solidFill>
                <a:latin typeface="Aptos"/>
              </a:rPr>
              <a:t>Pertanyaan untuk diskusi kelas</a:t>
            </a:r>
            <a:endParaRPr lang="id-ID"/>
          </a:p>
        </p:txBody>
      </p:sp>
      <p:sp>
        <p:nvSpPr>
          <p:cNvPr id="2059" name="Shape 2059"/>
          <p:cNvSpPr/>
          <p:nvPr/>
        </p:nvSpPr>
        <p:spPr>
          <a:xfrm>
            <a:off x="685800" y="2562225"/>
            <a:ext cx="10477500" cy="523875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700" b="0">
                <a:solidFill>
                  <a:srgbClr val="102238"/>
                </a:solidFill>
                <a:latin typeface="Aptos"/>
              </a:rPr>
              <a:t>Di titik mana pesan dapat hilang atau terlambat?</a:t>
            </a:r>
            <a:endParaRPr lang="id-ID"/>
          </a:p>
        </p:txBody>
      </p:sp>
      <p:sp>
        <p:nvSpPr>
          <p:cNvPr id="2060" name="Shape 2060"/>
          <p:cNvSpPr/>
          <p:nvPr/>
        </p:nvSpPr>
        <p:spPr>
          <a:xfrm>
            <a:off x="685800" y="35433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2700" b="0">
                <a:solidFill>
                  <a:srgbClr val="102238"/>
                </a:solidFill>
                <a:latin typeface="Aptos"/>
              </a:rPr>
              <a:t>Log atau pengukuran apa yang dapat membuktikan penyebabnya?</a:t>
            </a:r>
            <a:endParaRPr lang="id-ID"/>
          </a:p>
        </p:txBody>
      </p:sp>
      <p:sp>
        <p:nvSpPr>
          <p:cNvPr id="2061" name="Shape 2061">
            <a:hlinkClick r:id="rId104" action="ppaction://hlinksldjump"/>
          </p:cNvPr>
          <p:cNvSpPr/>
          <p:nvPr/>
        </p:nvSpPr>
        <p:spPr>
          <a:xfrm>
            <a:off x="7886700" y="5400675"/>
            <a:ext cx="3409950" cy="571500"/>
          </a:xfrm>
          <a:prstGeom prst="rect">
            <a:avLst/>
          </a:prstGeom>
          <a:solidFill>
            <a:srgbClr val="176B99"/>
          </a:solidFill>
          <a:ln>
            <a:noFill/>
          </a:ln>
        </p:spPr>
        <p:txBody>
          <a:bodyPr wrap="square" lIns="28575" tIns="19050" rIns="28575" bIns="19050" anchor="ctr"/>
          <a:lstStyle/>
          <a:p>
            <a:pPr algn="ctr"/>
            <a:r>
              <a:rPr lang="id-ID" sz="2100" b="1">
                <a:solidFill>
                  <a:srgbClr val="FFFFFF"/>
                </a:solidFill>
                <a:latin typeface="Aptos"/>
              </a:rPr>
              <a:t>Buka kembali alur ›</a:t>
            </a:r>
            <a:endParaRPr lang="id-ID"/>
          </a:p>
        </p:txBody>
      </p:sp>
      <p:sp>
        <p:nvSpPr>
          <p:cNvPr id="2062" name="Shape 2062">
            <a:hlinkClick r:id="rId101" action="ppaction://hlinksldjump"/>
          </p:cNvPr>
          <p:cNvSpPr/>
          <p:nvPr/>
        </p:nvSpPr>
        <p:spPr>
          <a:xfrm>
            <a:off x="685800" y="5448300"/>
            <a:ext cx="2571750" cy="495300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/>
          <a:lstStyle/>
          <a:p>
            <a:pPr algn="l"/>
            <a:r>
              <a:rPr lang="id-ID" sz="1800" b="1">
                <a:solidFill>
                  <a:srgbClr val="176B99"/>
                </a:solidFill>
                <a:latin typeface="Aptos"/>
              </a:rPr>
              <a:t>‹ Awal deck</a:t>
            </a:r>
            <a:endParaRPr lang="id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T Lab">
  <a:themeElements>
    <a:clrScheme name="IoT">
      <a:dk1>
        <a:srgbClr val="102238"/>
      </a:dk1>
      <a:lt1>
        <a:srgbClr val="FFFFFF"/>
      </a:lt1>
      <a:dk2>
        <a:srgbClr val="172D40"/>
      </a:dk2>
      <a:lt2>
        <a:srgbClr val="F7FAFC"/>
      </a:lt2>
      <a:accent1>
        <a:srgbClr val="176B99"/>
      </a:accent1>
      <a:accent2>
        <a:srgbClr val="54D3DE"/>
      </a:accent2>
      <a:accent3>
        <a:srgbClr val="17875B"/>
      </a:accent3>
      <a:accent4>
        <a:srgbClr val="BB4855"/>
      </a:accent4>
      <a:accent5>
        <a:srgbClr val="7B89A3"/>
      </a:accent5>
      <a:accent6>
        <a:srgbClr val="A9C4D0"/>
      </a:accent6>
      <a:hlink>
        <a:srgbClr val="176B99"/>
      </a:hlink>
      <a:folHlink>
        <a:srgbClr val="176B99"/>
      </a:folHlink>
    </a:clrScheme>
    <a:fontScheme name="IoT">
      <a:majorFont>
        <a:latin typeface="Aptos Display"/>
      </a:majorFont>
      <a:minorFont>
        <a:latin typeface="Aptos"/>
      </a:minorFont>
    </a:fontScheme>
    <a:fmtScheme name="IoT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19050">
          <a:solidFill>
            <a:schemeClr val="accent2"/>
          </a:solidFill>
        </a:ln>
        <a:ln w="28575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accent1"/>
        </a:solidFill>
      </a:bgFillStyleLst>
    </a:fmtScheme>
  </a:themeElements>
</a:theme>
</file>